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749808"/>
            <a:ext cx="109728" cy="5212080"/>
          </a:xfrm>
          <a:prstGeom prst="rect">
            <a:avLst/>
          </a:prstGeom>
          <a:solidFill>
            <a:srgbClr val="12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115568"/>
            <a:ext cx="98755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3DCCF"/>
                </a:solidFill>
                <a:latin typeface="Aptos"/>
              </a:rPr>
              <a:t>PORTFOLIO REFERENCE  /  JAVA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74519"/>
            <a:ext cx="1005840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Aptos"/>
              </a:rPr>
              <a:t>PrivacyVault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834640"/>
            <a:ext cx="9692640" cy="9601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0">
                <a:solidFill>
                  <a:srgbClr val="FFFFFF"/>
                </a:solidFill>
                <a:latin typeface="Aptos"/>
              </a:rPr>
              <a:t>A privacy-focused API for personal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60520"/>
            <a:ext cx="97840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AD9E8"/>
                </a:solidFill>
                <a:latin typeface="Aptos"/>
              </a:rPr>
              <a:t>Java 25   ·   Spring Boot 3.5   ·   PostgreSQL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010912"/>
            <a:ext cx="9875520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AD9E8"/>
                </a:solidFill>
                <a:latin typeface="Aptos"/>
              </a:rPr>
              <a:t>GDPR-oriented reference project — not legal advice, a compliance certificate, or a production service.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6327648"/>
            <a:ext cx="201168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0C2D3"/>
                </a:solidFill>
                <a:latin typeface="Aptos"/>
              </a:rPr>
              <a:t>ENGLISH  ·  01/08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29691"/>
                </a:solidFill>
                <a:latin typeface="Aptos"/>
              </a:rPr>
              <a:t>PRIVACYVAULT  / 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23A"/>
                </a:solidFill>
                <a:latin typeface="Aptos"/>
              </a:rPr>
              <a:t>The challenge and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52728"/>
            <a:ext cx="960120" cy="50292"/>
          </a:xfrm>
          <a:prstGeom prst="rect">
            <a:avLst/>
          </a:prstGeom>
          <a:solidFill>
            <a:srgbClr val="12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PrivacyVault  •  Portfolio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20116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ENGLISH  ·  02/08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3619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71907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19456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People need clear ways to access, export, correct and erase their own personal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53619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71907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The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19456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A REST API connects authenticated users to privacy-focused data workflows.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7647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95935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Privacy by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443484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Personal fields are encrypted; consent and audit records minimize exposed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377647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95935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Honest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443484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A portfolio/reference application. Legal and operational duties remain with the controller and operator.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29691"/>
                </a:solidFill>
                <a:latin typeface="Aptos"/>
              </a:rPr>
              <a:t>PRIVACYVAULT  / 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23A"/>
                </a:solidFill>
                <a:latin typeface="Aptos"/>
              </a:rPr>
              <a:t>What users can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52728"/>
            <a:ext cx="960120" cy="50292"/>
          </a:xfrm>
          <a:prstGeom prst="rect">
            <a:avLst/>
          </a:prstGeom>
          <a:solidFill>
            <a:srgbClr val="12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PrivacyVault  •  Portfolio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20116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ENGLISH  ·  03/08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3619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71907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Accounts and sessions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19456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Register, sign in, rotate refresh tokens, sign out, and revoke all sessions.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53619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71907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Access and portability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19456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View personal data and request a machine-readable JSON export.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7647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95935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Rectification and consent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443484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Update supported profile fields; record consent grants and withdrawals as events.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377647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95935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Restriction and erasure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443484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Restrict processing, request scheduled or immediate erasure, and cancel during the grace period.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29691"/>
                </a:solidFill>
                <a:latin typeface="Aptos"/>
              </a:rPr>
              <a:t>PRIVACYVAULT  / 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23A"/>
                </a:solidFill>
                <a:latin typeface="Aptos"/>
              </a:rPr>
              <a:t>Security and privacy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52728"/>
            <a:ext cx="960120" cy="50292"/>
          </a:xfrm>
          <a:prstGeom prst="rect">
            <a:avLst/>
          </a:prstGeom>
          <a:solidFill>
            <a:srgbClr val="12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PrivacyVault  •  Portfolio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20116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ENGLISH  ·  04/08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3619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71907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Encrypted fields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19456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AES-256-GCM with fresh 96-bit IVs and additional authenticated data bound to user and field.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53619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71907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Separated key purposes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19456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Per-user data keys; separate HMAC keys for email lookup and pseudonymous references.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7647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95935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Account protection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443484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Argon2id passwords; 15-minute access tokens; hashed, rotating refresh tokens with reuse detection.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377647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95935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Operational boundaries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443484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Authenticated account scope and admin roles. Rate limits are process-local; TLS is expected at the edge.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29691"/>
                </a:solidFill>
                <a:latin typeface="Aptos"/>
              </a:rPr>
              <a:t>PRIVACYVAULT  / 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23A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52728"/>
            <a:ext cx="960120" cy="50292"/>
          </a:xfrm>
          <a:prstGeom prst="rect">
            <a:avLst/>
          </a:prstGeom>
          <a:solidFill>
            <a:srgbClr val="12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PrivacyVault  •  Portfolio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20116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ENGLISH  ·  05/08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874519"/>
            <a:ext cx="248716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5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4389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29691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87168"/>
            <a:ext cx="2157984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23A"/>
                </a:solidFill>
                <a:latin typeface="Aptos"/>
              </a:rPr>
              <a:t>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2157984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2F3E"/>
                </a:solidFill>
                <a:latin typeface="Aptos"/>
              </a:rPr>
              <a:t>HTTPS/JSON clients call the versioned REST API.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99232" y="2852928"/>
            <a:ext cx="292608" cy="0"/>
          </a:xfrm>
          <a:prstGeom prst="line">
            <a:avLst/>
          </a:prstGeom>
          <a:ln w="28575">
            <a:solidFill>
              <a:srgbClr val="12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83280" y="1874519"/>
            <a:ext cx="248716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5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2057400"/>
            <a:ext cx="4389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29691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487168"/>
            <a:ext cx="2157984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23A"/>
                </a:solidFill>
                <a:latin typeface="Aptos"/>
              </a:rPr>
              <a:t>API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017520"/>
            <a:ext cx="2157984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2F3E"/>
                </a:solidFill>
                <a:latin typeface="Aptos"/>
              </a:rPr>
              <a:t>Spring Security, request validation, OpenAPI and application services.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07024" y="2852928"/>
            <a:ext cx="292608" cy="0"/>
          </a:xfrm>
          <a:prstGeom prst="line">
            <a:avLst/>
          </a:prstGeom>
          <a:ln w="28575">
            <a:solidFill>
              <a:srgbClr val="12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91072" y="1874519"/>
            <a:ext cx="248716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5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2057400"/>
            <a:ext cx="4389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29691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487168"/>
            <a:ext cx="2157984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23A"/>
                </a:solidFill>
                <a:latin typeface="Aptos"/>
              </a:rPr>
              <a:t>Persistence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3017520"/>
            <a:ext cx="2157984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2F3E"/>
                </a:solidFill>
                <a:latin typeface="Aptos"/>
              </a:rPr>
              <a:t>PostgreSQL 16 with Flyway-managed schema migrations.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14816" y="2852928"/>
            <a:ext cx="292608" cy="0"/>
          </a:xfrm>
          <a:prstGeom prst="line">
            <a:avLst/>
          </a:prstGeom>
          <a:ln w="28575">
            <a:solidFill>
              <a:srgbClr val="12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98864" y="1874519"/>
            <a:ext cx="248716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5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4389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29691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3456" y="2487168"/>
            <a:ext cx="2157984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23A"/>
                </a:solidFill>
                <a:latin typeface="Aptos"/>
              </a:rPr>
              <a:t>Cryptography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3017520"/>
            <a:ext cx="2157984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2F3E"/>
                </a:solidFill>
                <a:latin typeface="Aptos"/>
              </a:rPr>
              <a:t>KeyProvider abstraction: local environment key for development; AWS KMS adapter for production setup.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4343400"/>
            <a:ext cx="10771632" cy="1143000"/>
          </a:xfrm>
          <a:prstGeom prst="round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4535424"/>
            <a:ext cx="21945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29691"/>
                </a:solidFill>
                <a:latin typeface="Aptos"/>
              </a:rPr>
              <a:t>KEY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864608"/>
            <a:ext cx="1019556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Local development uses an environment key. The production template selects AWS KMS and requires operator-managed identity, permissions and secrets.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PrivacyVault  •  Portfolio reference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6492240"/>
            <a:ext cx="20116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ENGLISH  ·  05/08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29691"/>
                </a:solidFill>
                <a:latin typeface="Aptos"/>
              </a:rPr>
              <a:t>PRIVACYVAULT  / 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23A"/>
                </a:solidFill>
                <a:latin typeface="Aptos"/>
              </a:rPr>
              <a:t>API surface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52728"/>
            <a:ext cx="960120" cy="50292"/>
          </a:xfrm>
          <a:prstGeom prst="rect">
            <a:avLst/>
          </a:prstGeom>
          <a:solidFill>
            <a:srgbClr val="12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PrivacyVault  •  Portfolio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20116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ENGLISH  ·  06/08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3619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71907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19456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POST /api/v1/auth/register · /login · /refresh · /logout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53619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71907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Personal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19456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GET /api/v1/users/me/data · /export; PATCH /api/v1/users/me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7647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95935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Privacy controls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443484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GET/POST /api/v1/users/me/consents; restriction, erasure and cancellation routes.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377647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95935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Administration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443484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Admin-only audit and key-rotation routes. OpenAPI is available locally and disabled in the production profile.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29691"/>
                </a:solidFill>
                <a:latin typeface="Aptos"/>
              </a:rPr>
              <a:t>PRIVACYVAULT  / 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23A"/>
                </a:solidFill>
                <a:latin typeface="Aptos"/>
              </a:rPr>
              <a:t>Technology and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52728"/>
            <a:ext cx="960120" cy="50292"/>
          </a:xfrm>
          <a:prstGeom prst="rect">
            <a:avLst/>
          </a:prstGeom>
          <a:solidFill>
            <a:srgbClr val="12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PrivacyVault  •  Portfolio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20116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ENGLISH  ·  07/08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3619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71907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Runtime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19456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Java 25 · Spring Boot 3.5 · Spring Security · Spring Data JPA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53619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71907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Data and delivery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19456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PostgreSQL 16 · Flyway · Maven · Docker multi-stage image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7647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95935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Automated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443484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34 tests passed, 0 failures; includes PostgreSQL integration flow via Testcontainers (22 Oct 2026).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377647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95935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Additional checks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443484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Docker image build passed. Direct dependency CVE lookup reported no known findings.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29691"/>
                </a:solidFill>
                <a:latin typeface="Aptos"/>
              </a:rPr>
              <a:t>PRIVACYVAULT  / 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23A"/>
                </a:solidFill>
                <a:latin typeface="Aptos"/>
              </a:rPr>
              <a:t>Deployment status and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52728"/>
            <a:ext cx="960120" cy="50292"/>
          </a:xfrm>
          <a:prstGeom prst="rect">
            <a:avLst/>
          </a:prstGeom>
          <a:solidFill>
            <a:srgbClr val="12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PrivacyVault  •  Portfolio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20116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ENGLISH  ·  08/08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3619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71907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Ready as a portfolio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19456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Local setup, API, security notes, deployment template, CI workflow and multilingual slides are present.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53619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71907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Before real personal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19456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Complete TLS, IAM/KMS permissions, secret provisioning, backup/restore drills, monitoring and incident processes.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7647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95935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Known product limits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443484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No MFA, email verification/reset, distributed rate limiting, CSV export, or managed backup service.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377647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95935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Important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443484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Passing tests and a deployment template do not establish GDPR compliance, security certification, or production readiness.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PrivacyVault — ENGLISH</dc:title>
  <dc:subject>Privacy-focused personal-data API portfolio presentation</dc:subject>
  <dc:creator>PrivacyVault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