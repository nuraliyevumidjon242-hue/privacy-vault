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749808"/>
            <a:ext cx="109728" cy="5212080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115568"/>
            <a:ext cx="987552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3DCCF"/>
                </a:solidFill>
                <a:latin typeface="Aptos"/>
              </a:rPr>
              <a:t>PORTFOLIO-REFERENZ  /  JAVA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74519"/>
            <a:ext cx="100584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ptos"/>
              </a:rPr>
              <a:t>PrivacyVault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834640"/>
            <a:ext cx="9692640" cy="9601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0">
                <a:solidFill>
                  <a:srgbClr val="FFFFFF"/>
                </a:solidFill>
                <a:latin typeface="Aptos"/>
              </a:rPr>
              <a:t>Eine datenschutzorientierte API für personenbezogene Daten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60520"/>
            <a:ext cx="97840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AD9E8"/>
                </a:solidFill>
                <a:latin typeface="Aptos"/>
              </a:rPr>
              <a:t>Java 25   ·   Spring Boot 3.5   ·   PostgreSQL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010912"/>
            <a:ext cx="987552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AD9E8"/>
                </a:solidFill>
                <a:latin typeface="Aptos"/>
              </a:rPr>
              <a:t>DSGVO-orientiertes Referenzprojekt — keine Rechtsberatung, kein Compliance-Zertifikat und kein Produktionsdienst.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6327648"/>
            <a:ext cx="201168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B0C2D3"/>
                </a:solidFill>
                <a:latin typeface="Aptos"/>
              </a:rPr>
              <a:t>DEUTSCH  ·  01/08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691"/>
                </a:solidFill>
                <a:latin typeface="Aptos"/>
              </a:rPr>
              <a:t>PRIVACYVAULT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23A"/>
                </a:solidFill>
                <a:latin typeface="Aptos"/>
              </a:rPr>
              <a:t>Herausforderung und Ansatz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960120" cy="50292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Portfolio-Referenz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DEUTSCH  ·  02/08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Herausforderung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Menschen brauchen klare Möglichkeiten, ihre eigenen personenbezogenen Daten einzusehen, zu exportieren, zu berichtigen und zu löschen.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Ansatz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Eine REST-API verbindet authentifizierte Nutzer mit datenschutzorientierten Datenprozessen.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Datenschutz durch Technik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Personenbezogene Felder werden verschlüsselt; Einwilligungs- und Auditdaten werden minimiert.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Ehrlicher Umfang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Portfolio-/Referenzanwendung. Rechtliche und betriebliche Pflichten bleiben bei Verantwortlichen und Betreibern.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691"/>
                </a:solidFill>
                <a:latin typeface="Aptos"/>
              </a:rPr>
              <a:t>PRIVACYVAULT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23A"/>
                </a:solidFill>
                <a:latin typeface="Aptos"/>
              </a:rPr>
              <a:t>Funktionen für Nutzer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960120" cy="50292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Portfolio-Referenz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DEUTSCH  ·  03/08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Konten und Sitzungen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Registrieren, anmelden, Refresh-Tokens rotieren, abmelden und alle Sitzungen widerrufen.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Auskunft und Portabilität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Personenbezogene Daten einsehen und einen maschinenlesbaren JSON-Export anfordern.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Berichtigung und Einwilligung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Unterstützte Profildaten aktualisieren; Einwilligungen als Ereignisse erfassen.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Einschränkung und Löschung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Verarbeitung einschränken, geplante oder sofortige Löschung beantragen und innerhalb der Frist stornieren.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691"/>
                </a:solidFill>
                <a:latin typeface="Aptos"/>
              </a:rPr>
              <a:t>PRIVACYVAULT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23A"/>
                </a:solidFill>
                <a:latin typeface="Aptos"/>
              </a:rPr>
              <a:t>Sicherheits- und Datenschutzkonzept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960120" cy="50292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Portfolio-Referenz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DEUTSCH  ·  04/08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Verschlüsselte Felder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AES-256-GCM mit frischen 96-Bit-IVs und an Nutzer sowie Feld gebundenen authentifizierten Zusatzdaten.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Getrennte Schlüsselzwecke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Nutzerspezifische Datenschlüssel; separate HMAC-Schlüssel für E-Mail-Suche und Pseudonyme.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Kontoschutz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Argon2id-Passwörter; 15-Minuten-Zugriffstoken; gehashte, rotierende Refresh-Tokens mit Wiederverwendungserkennung.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Betriebsgrenzen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Authentifizierter Kontozugriff und Admin-Rollen. Rate-Limits gelten je Prozess; TLS wird am Eingang vorausgesetzt.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691"/>
                </a:solidFill>
                <a:latin typeface="Aptos"/>
              </a:rPr>
              <a:t>PRIVACYVAULT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23A"/>
                </a:solidFill>
                <a:latin typeface="Aptos"/>
              </a:rPr>
              <a:t>Systemarchitektur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960120" cy="50292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Portfolio-Referenz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DEUTSCH  ·  05/08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874519"/>
            <a:ext cx="24871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4389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2969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2157984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23A"/>
                </a:solidFill>
                <a:latin typeface="Aptos"/>
              </a:rP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157984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F3E"/>
                </a:solidFill>
                <a:latin typeface="Aptos"/>
              </a:rPr>
              <a:t>HTTPS-/JSON-Clients greifen auf die versionierte REST-API zu.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99232" y="2852928"/>
            <a:ext cx="292608" cy="0"/>
          </a:xfrm>
          <a:prstGeom prst="line">
            <a:avLst/>
          </a:prstGeom>
          <a:ln w="28575">
            <a:solidFill>
              <a:srgbClr val="12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83280" y="1874519"/>
            <a:ext cx="24871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2057400"/>
            <a:ext cx="4389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29691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487168"/>
            <a:ext cx="2157984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23A"/>
                </a:solidFill>
                <a:latin typeface="Aptos"/>
              </a:rPr>
              <a:t>API-Schicht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017520"/>
            <a:ext cx="2157984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F3E"/>
                </a:solidFill>
                <a:latin typeface="Aptos"/>
              </a:rPr>
              <a:t>Spring Security, Anfragevalidierung, OpenAPI und Anwendungsdienste.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07024" y="2852928"/>
            <a:ext cx="292608" cy="0"/>
          </a:xfrm>
          <a:prstGeom prst="line">
            <a:avLst/>
          </a:prstGeom>
          <a:ln w="28575">
            <a:solidFill>
              <a:srgbClr val="12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91072" y="1874519"/>
            <a:ext cx="24871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2057400"/>
            <a:ext cx="4389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29691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487168"/>
            <a:ext cx="2157984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23A"/>
                </a:solidFill>
                <a:latin typeface="Aptos"/>
              </a:rPr>
              <a:t>Persistenz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017520"/>
            <a:ext cx="2157984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F3E"/>
                </a:solidFill>
                <a:latin typeface="Aptos"/>
              </a:rPr>
              <a:t>PostgreSQL 16 mit durch Flyway verwalteten Schema-Migrationen.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14816" y="2852928"/>
            <a:ext cx="292608" cy="0"/>
          </a:xfrm>
          <a:prstGeom prst="line">
            <a:avLst/>
          </a:prstGeom>
          <a:ln w="28575">
            <a:solidFill>
              <a:srgbClr val="12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98864" y="1874519"/>
            <a:ext cx="2487168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2057400"/>
            <a:ext cx="438912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29691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2487168"/>
            <a:ext cx="2157984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2223A"/>
                </a:solidFill>
                <a:latin typeface="Aptos"/>
              </a:rPr>
              <a:t>Kryptografie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3017520"/>
            <a:ext cx="2157984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F3E"/>
                </a:solidFill>
                <a:latin typeface="Aptos"/>
              </a:rPr>
              <a:t>KeyProvider-Abstraktion: Umgebungsvariablenschlüssel lokal; AWS-KMS-Adapter für die Produktionskonfiguration.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343400"/>
            <a:ext cx="10771632" cy="1143000"/>
          </a:xfrm>
          <a:prstGeom prst="round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535424"/>
            <a:ext cx="21945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29691"/>
                </a:solidFill>
                <a:latin typeface="Aptos"/>
              </a:rPr>
              <a:t>SCHLÜSSELVERWALTUNG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864608"/>
            <a:ext cx="1019556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Die lokale Entwicklung nutzt einen Umgebungsschlüssel. Die Produktionsvorlage verwendet AWS KMS und erfordert eine vom Betreiber verwaltete Identität, Berechtigungen und Geheimnisse.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Portfolio-Referenz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DEUTSCH  ·  05/08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691"/>
                </a:solidFill>
                <a:latin typeface="Aptos"/>
              </a:rPr>
              <a:t>PRIVACYVAULT  /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23A"/>
                </a:solidFill>
                <a:latin typeface="Aptos"/>
              </a:rPr>
              <a:t>API-Umfang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960120" cy="50292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Portfolio-Referenz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DEUTSCH  ·  06/08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Identität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POST /api/v1/auth/register · /login · /refresh · /logout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Personenbezogene Daten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GET /api/v1/users/me/data · /export; PATCH /api/v1/users/me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Datenschutzkontrollen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Einwilligungs-, Einschränkungs-, Lösch- und Stornierungsrouten unter /api/v1/users/me.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Administration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Admin-geschützte Audit- und Schlüsselrotierungsrouten. OpenAPI lokal verfügbar, im Produktionsprofil deaktiviert.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691"/>
                </a:solidFill>
                <a:latin typeface="Aptos"/>
              </a:rPr>
              <a:t>PRIVACYVAULT  /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23A"/>
                </a:solidFill>
                <a:latin typeface="Aptos"/>
              </a:rPr>
              <a:t>Technologie und Prüfung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960120" cy="50292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Portfolio-Referenz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DEUTSCH  ·  07/08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Laufzeit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Java 25 · Spring Boot 3.5 · Spring Security · Spring Data JPA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Daten und Bereitstellung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PostgreSQL 16 · Flyway · Maven · mehrstufiges Docker-Image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Automatisierte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34 Tests bestanden, 0 fehlgeschlagen; inklusive PostgreSQL-Integration mit Testcontainers (22.10.2026).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Weitere Prüfungen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Docker-Image-Build erfolgreich. Für direkte Abhängigkeiten wurden keine bekannten CVEs gemeldet.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3774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29691"/>
                </a:solidFill>
                <a:latin typeface="Aptos"/>
              </a:rPr>
              <a:t>PRIVACYVAULT  / 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3035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2223A"/>
                </a:solidFill>
                <a:latin typeface="Aptos"/>
              </a:rPr>
              <a:t>Bereitstellungsstatus und nächste Schritte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52728"/>
            <a:ext cx="960120" cy="50292"/>
          </a:xfrm>
          <a:prstGeom prst="rect">
            <a:avLst/>
          </a:prstGeom>
          <a:solidFill>
            <a:srgbClr val="12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PrivacyVault  •  Portfolio-Referenz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6492240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16F80"/>
                </a:solidFill>
                <a:latin typeface="Aptos"/>
              </a:rPr>
              <a:t>DEUTSCH  ·  08/08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Als Portfolio-Projekt bereit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Lokaler Start, API, Sicherheitsdokumentation, Deployment-Vorlage, CI-Workflow und mehrsprachige Folien sind vorhanden.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3619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Vor echten personenbezogenen Daten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9456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TLS, IAM-/KMS-Berechtigungen, Geheimnisse, Backup-/Restore-Tests, Monitoring und Incident-Prozesse vervollständigen.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Bekannte Produktgrenzen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Kein MFA, keine E-Mail-Verifizierung/-Wiederherstellung, keine verteilte Drosselung, kein CSV-Export und kein verwalteter Backupdienst.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3776472"/>
            <a:ext cx="5468112" cy="2039112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959352"/>
            <a:ext cx="50292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9691"/>
                </a:solidFill>
                <a:latin typeface="Aptos"/>
              </a:rPr>
              <a:t>Wichtig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434840"/>
            <a:ext cx="5010912" cy="1170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F3E"/>
                </a:solidFill>
                <a:latin typeface="Aptos"/>
              </a:rPr>
              <a:t>Tests und Deployment-Vorlage belegen weder DSGVO-Konformität noch Sicherheitszertifizierung oder Produktionsreife.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PrivacyVault — DEUTSCH</dc:title>
  <dc:subject>Privacy-focused personal-data API portfolio presentation</dc:subject>
  <dc:creator>PrivacyVault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